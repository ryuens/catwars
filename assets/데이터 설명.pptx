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8000000" cx="32400000"/>
  <p:notesSz cx="6858000" cy="9144000"/>
  <p:embeddedFontLst>
    <p:embeddedFont>
      <p:font typeface="Rubik ExtraBold"/>
      <p:bold r:id="rId23"/>
      <p:boldItalic r:id="rId24"/>
    </p:embeddedFont>
    <p:embeddedFont>
      <p:font typeface="Asta Sans Medium"/>
      <p:regular r:id="rId25"/>
      <p:bold r:id="rId26"/>
    </p:embeddedFont>
    <p:embeddedFont>
      <p:font typeface="Asta Sans ExtraBold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A1C6EB-F065-4D5E-B94E-CE183D3AD7D7}">
  <a:tblStyle styleId="{FFA1C6EB-F065-4D5E-B94E-CE183D3AD7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411CB53-C722-4492-8B28-41F5C46166D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ubikExtraBold-boldItalic.fntdata"/><Relationship Id="rId23" Type="http://schemas.openxmlformats.org/officeDocument/2006/relationships/font" Target="fonts/RubikExtra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staSansMedium-bold.fntdata"/><Relationship Id="rId25" Type="http://schemas.openxmlformats.org/officeDocument/2006/relationships/font" Target="fonts/AstaSansMedium-regular.fntdata"/><Relationship Id="rId27" Type="http://schemas.openxmlformats.org/officeDocument/2006/relationships/font" Target="fonts/AstaSans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e0f43d4f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9e0f43d4fb_2_0:notes"/>
          <p:cNvSpPr/>
          <p:nvPr>
            <p:ph idx="2" type="sldImg"/>
          </p:nvPr>
        </p:nvSpPr>
        <p:spPr>
          <a:xfrm>
            <a:off x="342900" y="685800"/>
            <a:ext cx="6172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e0f43d4fb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9e0f43d4fb_2_87:notes"/>
          <p:cNvSpPr/>
          <p:nvPr>
            <p:ph idx="2" type="sldImg"/>
          </p:nvPr>
        </p:nvSpPr>
        <p:spPr>
          <a:xfrm>
            <a:off x="1114648" y="685800"/>
            <a:ext cx="462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e0f43d4f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9e0f43d4fb_0_28:notes"/>
          <p:cNvSpPr/>
          <p:nvPr>
            <p:ph idx="2" type="sldImg"/>
          </p:nvPr>
        </p:nvSpPr>
        <p:spPr>
          <a:xfrm>
            <a:off x="1114648" y="685800"/>
            <a:ext cx="462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0f43d4f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e0f43d4fb_0_66:notes"/>
          <p:cNvSpPr/>
          <p:nvPr>
            <p:ph idx="2" type="sldImg"/>
          </p:nvPr>
        </p:nvSpPr>
        <p:spPr>
          <a:xfrm>
            <a:off x="1114648" y="685800"/>
            <a:ext cx="462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/>
          <p:nvPr>
            <p:ph idx="2" type="sldImg"/>
          </p:nvPr>
        </p:nvSpPr>
        <p:spPr>
          <a:xfrm>
            <a:off x="1114649" y="685800"/>
            <a:ext cx="46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4050000" y="2945835"/>
            <a:ext cx="24300000" cy="62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0950" lIns="241950" spcFirstLastPara="1" rIns="241950" wrap="square" tIns="1209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9"/>
              <a:buFont typeface="Malgun Gothic"/>
              <a:buNone/>
              <a:defRPr sz="15879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050000" y="9454168"/>
            <a:ext cx="24300000" cy="4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lvl="0" algn="ctr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6352"/>
              <a:buNone/>
              <a:defRPr sz="6351"/>
            </a:lvl1pPr>
            <a:lvl2pPr lvl="1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None/>
              <a:defRPr sz="5293"/>
            </a:lvl2pPr>
            <a:lvl3pPr lvl="2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4763"/>
            </a:lvl3pPr>
            <a:lvl4pPr lvl="3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4pPr>
            <a:lvl5pPr lvl="4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5pPr>
            <a:lvl6pPr lvl="5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6pPr>
            <a:lvl7pPr lvl="6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7pPr>
            <a:lvl8pPr lvl="7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8pPr>
            <a:lvl9pPr lvl="8" algn="ctr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227500" y="958333"/>
            <a:ext cx="279450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11644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2227500" y="4791667"/>
            <a:ext cx="27945000" cy="11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210625" y="4487501"/>
            <a:ext cx="27945000" cy="74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9"/>
              <a:buFont typeface="Malgun Gothic"/>
              <a:buNone/>
              <a:defRPr sz="15879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210625" y="12045835"/>
            <a:ext cx="27945000" cy="39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rgbClr val="888888"/>
              </a:buClr>
              <a:buSzPts val="6352"/>
              <a:buNone/>
              <a:defRPr sz="635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5293"/>
              <a:buNone/>
              <a:defRPr sz="5293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764"/>
              <a:buNone/>
              <a:defRPr sz="476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234"/>
              <a:buNone/>
              <a:defRPr sz="4234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234"/>
              <a:buNone/>
              <a:defRPr sz="4234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234"/>
              <a:buNone/>
              <a:defRPr sz="4234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234"/>
              <a:buNone/>
              <a:defRPr sz="4234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234"/>
              <a:buNone/>
              <a:defRPr sz="4234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rgbClr val="888888"/>
              </a:buClr>
              <a:buSzPts val="4234"/>
              <a:buNone/>
              <a:defRPr sz="4234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227500" y="958333"/>
            <a:ext cx="279450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11644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2227500" y="4791667"/>
            <a:ext cx="13770000" cy="11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16402500" y="4791667"/>
            <a:ext cx="13770000" cy="11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2231720" y="958333"/>
            <a:ext cx="279450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11644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2231720" y="4412501"/>
            <a:ext cx="13706700" cy="21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0950" lIns="241950" spcFirstLastPara="1" rIns="241950" wrap="square" tIns="120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6352"/>
              <a:buNone/>
              <a:defRPr b="1" sz="6351"/>
            </a:lvl1pPr>
            <a:lvl2pPr indent="-2286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None/>
              <a:defRPr b="1" sz="5293"/>
            </a:lvl2pPr>
            <a:lvl3pPr indent="-2286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b="1" sz="4763"/>
            </a:lvl3pPr>
            <a:lvl4pPr indent="-2286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4pPr>
            <a:lvl5pPr indent="-228600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5pPr>
            <a:lvl6pPr indent="-228600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6pPr>
            <a:lvl7pPr indent="-228600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7pPr>
            <a:lvl8pPr indent="-228600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8pPr>
            <a:lvl9pPr indent="-2286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2231720" y="6575000"/>
            <a:ext cx="13706700" cy="9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16402500" y="4412501"/>
            <a:ext cx="13774200" cy="216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0950" lIns="241950" spcFirstLastPara="1" rIns="241950" wrap="square" tIns="120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6352"/>
              <a:buNone/>
              <a:defRPr b="1" sz="6351"/>
            </a:lvl1pPr>
            <a:lvl2pPr indent="-2286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None/>
              <a:defRPr b="1" sz="5293"/>
            </a:lvl2pPr>
            <a:lvl3pPr indent="-2286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b="1" sz="4763"/>
            </a:lvl3pPr>
            <a:lvl4pPr indent="-2286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4pPr>
            <a:lvl5pPr indent="-228600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5pPr>
            <a:lvl6pPr indent="-228600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6pPr>
            <a:lvl7pPr indent="-228600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7pPr>
            <a:lvl8pPr indent="-228600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8pPr>
            <a:lvl9pPr indent="-2286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b="1" sz="4234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16402500" y="6575000"/>
            <a:ext cx="13774200" cy="9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2227500" y="958333"/>
            <a:ext cx="279450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11644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231720" y="1200000"/>
            <a:ext cx="10449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69"/>
              <a:buFont typeface="Malgun Gothic"/>
              <a:buNone/>
              <a:defRPr sz="8468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3774220" y="2591667"/>
            <a:ext cx="16402500" cy="12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766377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8469"/>
              <a:buChar char="•"/>
              <a:defRPr sz="8468"/>
            </a:lvl1pPr>
            <a:lvl2pPr indent="-699155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7410"/>
              <a:buChar char="•"/>
              <a:defRPr sz="7410"/>
            </a:lvl2pPr>
            <a:lvl3pPr indent="-631933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6352"/>
              <a:buChar char="•"/>
              <a:defRPr sz="6351"/>
            </a:lvl3pPr>
            <a:lvl4pPr indent="-564711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Char char="•"/>
              <a:defRPr sz="5293"/>
            </a:lvl4pPr>
            <a:lvl5pPr indent="-564711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Char char="•"/>
              <a:defRPr sz="5293"/>
            </a:lvl5pPr>
            <a:lvl6pPr indent="-564711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Char char="•"/>
              <a:defRPr sz="5293"/>
            </a:lvl6pPr>
            <a:lvl7pPr indent="-564711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Char char="•"/>
              <a:defRPr sz="5293"/>
            </a:lvl7pPr>
            <a:lvl8pPr indent="-564711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Char char="•"/>
              <a:defRPr sz="5293"/>
            </a:lvl8pPr>
            <a:lvl9pPr indent="-564711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Char char="•"/>
              <a:defRPr sz="5293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231720" y="5400000"/>
            <a:ext cx="10449900" cy="10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1pPr>
            <a:lvl2pPr indent="-2286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3705"/>
              <a:buNone/>
              <a:defRPr sz="3705"/>
            </a:lvl2pPr>
            <a:lvl3pPr indent="-2286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3176"/>
              <a:buNone/>
              <a:defRPr sz="3175"/>
            </a:lvl3pPr>
            <a:lvl4pPr indent="-2286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4pPr>
            <a:lvl5pPr indent="-228600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5pPr>
            <a:lvl6pPr indent="-228600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6pPr>
            <a:lvl7pPr indent="-228600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7pPr>
            <a:lvl8pPr indent="-228600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8pPr>
            <a:lvl9pPr indent="-2286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2231720" y="1200000"/>
            <a:ext cx="10449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469"/>
              <a:buFont typeface="Malgun Gothic"/>
              <a:buNone/>
              <a:defRPr sz="8468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774220" y="2591667"/>
            <a:ext cx="16402500" cy="12791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2231720" y="5400000"/>
            <a:ext cx="10449900" cy="100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234"/>
              <a:buNone/>
              <a:defRPr sz="4234"/>
            </a:lvl1pPr>
            <a:lvl2pPr indent="-2286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3705"/>
              <a:buNone/>
              <a:defRPr sz="3705"/>
            </a:lvl2pPr>
            <a:lvl3pPr indent="-2286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3176"/>
              <a:buNone/>
              <a:defRPr sz="3175"/>
            </a:lvl3pPr>
            <a:lvl4pPr indent="-2286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4pPr>
            <a:lvl5pPr indent="-228600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5pPr>
            <a:lvl6pPr indent="-228600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6pPr>
            <a:lvl7pPr indent="-228600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7pPr>
            <a:lvl8pPr indent="-228600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8pPr>
            <a:lvl9pPr indent="-2286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2647"/>
              <a:buNone/>
              <a:defRPr sz="2646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227500" y="958333"/>
            <a:ext cx="279450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11644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0489650" y="-3470483"/>
            <a:ext cx="11420700" cy="27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19052400" y="5092333"/>
            <a:ext cx="15254100" cy="69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64"/>
              <a:buNone/>
              <a:defRPr sz="11644"/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877400" y="-1691417"/>
            <a:ext cx="15254100" cy="205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531100" lvl="0" marL="45720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7410"/>
            </a:lvl1pPr>
            <a:lvl2pPr indent="-531100" lvl="1" marL="914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6351"/>
            </a:lvl2pPr>
            <a:lvl3pPr indent="-531100" lvl="2" marL="1371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5293"/>
            </a:lvl3pPr>
            <a:lvl4pPr indent="-531100" lvl="3" marL="1828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4pPr>
            <a:lvl5pPr indent="-531099" lvl="4" marL="22860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5pPr>
            <a:lvl6pPr indent="-531099" lvl="5" marL="27432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6pPr>
            <a:lvl7pPr indent="-531099" lvl="6" marL="32004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7pPr>
            <a:lvl8pPr indent="-531099" lvl="7" marL="36576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8pPr>
            <a:lvl9pPr indent="-531100" lvl="8" marL="411480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Char char="•"/>
              <a:defRPr sz="4763"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sz="3175"/>
            </a:lvl1pPr>
            <a:lvl2pPr lvl="1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 algn="l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algn="r">
              <a:spcBef>
                <a:spcPts val="0"/>
              </a:spcBef>
              <a:buNone/>
              <a:defRPr sz="3175"/>
            </a:lvl1pPr>
            <a:lvl2pPr indent="0" lvl="1" marL="0" algn="r">
              <a:spcBef>
                <a:spcPts val="0"/>
              </a:spcBef>
              <a:buNone/>
              <a:defRPr sz="3175"/>
            </a:lvl2pPr>
            <a:lvl3pPr indent="0" lvl="2" marL="0" algn="r">
              <a:spcBef>
                <a:spcPts val="0"/>
              </a:spcBef>
              <a:buNone/>
              <a:defRPr sz="3175"/>
            </a:lvl3pPr>
            <a:lvl4pPr indent="0" lvl="3" marL="0" algn="r">
              <a:spcBef>
                <a:spcPts val="0"/>
              </a:spcBef>
              <a:buNone/>
              <a:defRPr sz="3175"/>
            </a:lvl4pPr>
            <a:lvl5pPr indent="0" lvl="4" marL="0" algn="r">
              <a:spcBef>
                <a:spcPts val="0"/>
              </a:spcBef>
              <a:buNone/>
              <a:defRPr sz="3175"/>
            </a:lvl5pPr>
            <a:lvl6pPr indent="0" lvl="5" marL="0" algn="r">
              <a:spcBef>
                <a:spcPts val="0"/>
              </a:spcBef>
              <a:buNone/>
              <a:defRPr sz="3175"/>
            </a:lvl6pPr>
            <a:lvl7pPr indent="0" lvl="6" marL="0" algn="r">
              <a:spcBef>
                <a:spcPts val="0"/>
              </a:spcBef>
              <a:buNone/>
              <a:defRPr sz="3175"/>
            </a:lvl7pPr>
            <a:lvl8pPr indent="0" lvl="7" marL="0" algn="r">
              <a:spcBef>
                <a:spcPts val="0"/>
              </a:spcBef>
              <a:buNone/>
              <a:defRPr sz="3175"/>
            </a:lvl8pPr>
            <a:lvl9pPr indent="0" lvl="8" marL="0" algn="r">
              <a:spcBef>
                <a:spcPts val="0"/>
              </a:spcBef>
              <a:buNone/>
              <a:defRPr sz="317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27500" y="958333"/>
            <a:ext cx="27945000" cy="34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45"/>
              <a:buFont typeface="Malgun Gothic"/>
              <a:buNone/>
              <a:defRPr b="0" i="0" sz="11644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2pPr>
            <a:lvl3pPr lvl="2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3pPr>
            <a:lvl4pPr lvl="3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4pPr>
            <a:lvl5pPr lvl="4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5pPr>
            <a:lvl6pPr lvl="5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6pPr>
            <a:lvl7pPr lvl="6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7pPr>
            <a:lvl8pPr lvl="7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8pPr>
            <a:lvl9pPr lvl="8">
              <a:spcBef>
                <a:spcPts val="0"/>
              </a:spcBef>
              <a:spcAft>
                <a:spcPts val="0"/>
              </a:spcAft>
              <a:buSzPts val="3705"/>
              <a:buNone/>
              <a:defRPr sz="4763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27500" y="4791667"/>
            <a:ext cx="27945000" cy="114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normAutofit/>
          </a:bodyPr>
          <a:lstStyle>
            <a:lvl1pPr indent="-699155" lvl="0" marL="457200" marR="0" rtl="0" algn="l">
              <a:lnSpc>
                <a:spcPct val="90000"/>
              </a:lnSpc>
              <a:spcBef>
                <a:spcPts val="2647"/>
              </a:spcBef>
              <a:spcAft>
                <a:spcPts val="0"/>
              </a:spcAft>
              <a:buClr>
                <a:schemeClr val="dk1"/>
              </a:buClr>
              <a:buSzPts val="7410"/>
              <a:buFont typeface="Arial"/>
              <a:buChar char="•"/>
              <a:defRPr b="0" i="0" sz="741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631933" lvl="1" marL="9144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6352"/>
              <a:buFont typeface="Arial"/>
              <a:buChar char="•"/>
              <a:defRPr b="0" i="0" sz="63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564711" lvl="2" marL="13716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5293"/>
              <a:buFont typeface="Arial"/>
              <a:buChar char="•"/>
              <a:defRPr b="0" i="0" sz="529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531100" lvl="3" marL="18288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Font typeface="Arial"/>
              <a:buChar char="•"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531099" lvl="4" marL="22860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Font typeface="Arial"/>
              <a:buChar char="•"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531099" lvl="5" marL="27432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Font typeface="Arial"/>
              <a:buChar char="•"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531099" lvl="6" marL="32004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Font typeface="Arial"/>
              <a:buChar char="•"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531099" lvl="7" marL="36576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Font typeface="Arial"/>
              <a:buChar char="•"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531100" lvl="8" marL="4114800" marR="0" rtl="0" algn="l">
              <a:lnSpc>
                <a:spcPct val="90000"/>
              </a:lnSpc>
              <a:spcBef>
                <a:spcPts val="1323"/>
              </a:spcBef>
              <a:spcAft>
                <a:spcPts val="0"/>
              </a:spcAft>
              <a:buClr>
                <a:schemeClr val="dk1"/>
              </a:buClr>
              <a:buSzPts val="4764"/>
              <a:buFont typeface="Arial"/>
              <a:buChar char="•"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27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0732500" y="16683333"/>
            <a:ext cx="10935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3705"/>
              <a:buNone/>
              <a:defRPr b="0" i="0" sz="476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22882500" y="16683333"/>
            <a:ext cx="7290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3175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90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500955" y="6172638"/>
            <a:ext cx="27317700" cy="51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1"/>
              <a:buFont typeface="Arial"/>
              <a:buNone/>
            </a:pPr>
            <a:r>
              <a:rPr lang="ko-KR" sz="15879">
                <a:solidFill>
                  <a:srgbClr val="FFFFFF"/>
                </a:solidFill>
                <a:latin typeface="Asta Sans ExtraBold"/>
                <a:ea typeface="Asta Sans ExtraBold"/>
                <a:cs typeface="Asta Sans ExtraBold"/>
                <a:sym typeface="Asta Sans ExtraBold"/>
              </a:rPr>
              <a:t>캣워즈</a:t>
            </a:r>
            <a:r>
              <a:rPr i="0" lang="ko-KR" sz="15879" u="none" cap="none" strike="noStrike">
                <a:solidFill>
                  <a:srgbClr val="FFFFFF"/>
                </a:solidFill>
                <a:latin typeface="Asta Sans ExtraBold"/>
                <a:ea typeface="Asta Sans ExtraBold"/>
                <a:cs typeface="Asta Sans ExtraBold"/>
                <a:sym typeface="Asta Sans ExtraBold"/>
              </a:rPr>
              <a:t> (</a:t>
            </a:r>
            <a:r>
              <a:rPr lang="ko-KR" sz="15879">
                <a:solidFill>
                  <a:srgbClr val="FFFFFF"/>
                </a:solidFill>
                <a:latin typeface="Asta Sans ExtraBold"/>
                <a:ea typeface="Asta Sans ExtraBold"/>
                <a:cs typeface="Asta Sans ExtraBold"/>
                <a:sym typeface="Asta Sans ExtraBold"/>
              </a:rPr>
              <a:t>CatWars)</a:t>
            </a:r>
            <a:endParaRPr sz="15879">
              <a:solidFill>
                <a:srgbClr val="FFFFFF"/>
              </a:solidFill>
              <a:latin typeface="Asta Sans ExtraBold"/>
              <a:ea typeface="Asta Sans ExtraBold"/>
              <a:cs typeface="Asta Sans ExtraBold"/>
              <a:sym typeface="Ast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1"/>
              <a:buFont typeface="Arial"/>
              <a:buNone/>
            </a:pPr>
            <a:r>
              <a:rPr lang="ko-KR" sz="15879">
                <a:solidFill>
                  <a:srgbClr val="FFFFFF"/>
                </a:solidFill>
                <a:latin typeface="Asta Sans ExtraBold"/>
                <a:ea typeface="Asta Sans ExtraBold"/>
                <a:cs typeface="Asta Sans ExtraBold"/>
                <a:sym typeface="Asta Sans ExtraBold"/>
              </a:rPr>
              <a:t>데이터 설명</a:t>
            </a:r>
            <a:endParaRPr sz="15879">
              <a:solidFill>
                <a:srgbClr val="FFFFFF"/>
              </a:solidFill>
              <a:latin typeface="Asta Sans ExtraBold"/>
              <a:ea typeface="Asta Sans ExtraBold"/>
              <a:cs typeface="Asta Sans ExtraBold"/>
              <a:sym typeface="Asta Sans ExtraBold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218455" y="16233333"/>
            <a:ext cx="124665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46">
                <a:solidFill>
                  <a:srgbClr val="FFFFFF"/>
                </a:solidFill>
                <a:latin typeface="Rubik ExtraBold"/>
                <a:ea typeface="Rubik ExtraBold"/>
                <a:cs typeface="Rubik ExtraBold"/>
                <a:sym typeface="Rubik ExtraBold"/>
              </a:rPr>
              <a:t>ⓒ LAYERLAB Corp.</a:t>
            </a:r>
            <a:endParaRPr sz="2646">
              <a:solidFill>
                <a:srgbClr val="FFFFFF"/>
              </a:solidFill>
              <a:latin typeface="Rubik ExtraBold"/>
              <a:ea typeface="Rubik ExtraBold"/>
              <a:cs typeface="Rubik ExtraBold"/>
              <a:sym typeface="Rubik ExtraBold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832" y="3081236"/>
            <a:ext cx="9201508" cy="236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984" y="2258793"/>
            <a:ext cx="7705708" cy="142812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" name="Google Shape;92;p14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{FFA1C6EB-F065-4D5E-B94E-CE183D3AD7D7}</a:tableStyleId>
              </a:tblPr>
              <a:tblGrid>
                <a:gridCol w="32400000"/>
              </a:tblGrid>
              <a:tr h="1199875">
                <a:tc>
                  <a:txBody>
                    <a:bodyPr/>
                    <a:lstStyle/>
                    <a:p>
                      <a:pPr indent="0" lvl="0" marL="472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유물 - ArtifactLevel.xlsx </a:t>
                      </a:r>
                      <a:endParaRPr sz="2887">
                        <a:latin typeface="Asta Sans ExtraBold"/>
                        <a:ea typeface="Asta Sans ExtraBold"/>
                        <a:cs typeface="Asta Sans ExtraBold"/>
                        <a:sym typeface="Asta Sans ExtraBold"/>
                      </a:endParaRPr>
                    </a:p>
                  </a:txBody>
                  <a:tcPr marT="239950" marB="239950" marR="242950" marL="242950" anchor="ctr">
                    <a:lnL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93" name="Google Shape;9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9606" y="211261"/>
            <a:ext cx="3022640" cy="7773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Google Shape;94;p14"/>
          <p:cNvGraphicFramePr/>
          <p:nvPr/>
        </p:nvGraphicFramePr>
        <p:xfrm>
          <a:off x="10374225" y="225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{D411CB53-C722-4492-8B28-41F5C46166DB}</a:tableStyleId>
              </a:tblPr>
              <a:tblGrid>
                <a:gridCol w="1334775"/>
                <a:gridCol w="4271250"/>
                <a:gridCol w="862475"/>
                <a:gridCol w="2649000"/>
                <a:gridCol w="3285575"/>
                <a:gridCol w="3162375"/>
                <a:gridCol w="20945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Idx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BonusType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Lv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Value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RequireExp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0.03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0.08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0.14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0.19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0.25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0.31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7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0.38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0.45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9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0.52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ALL_UNIT_DMG_INCREASE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0.60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ArtifactName_101001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ArtifactDesc_101001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14"/>
          <p:cNvSpPr/>
          <p:nvPr/>
        </p:nvSpPr>
        <p:spPr>
          <a:xfrm>
            <a:off x="1771200" y="7233225"/>
            <a:ext cx="834600" cy="532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1494475" y="6958925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2</a:t>
            </a:r>
            <a:endParaRPr b="1" sz="2500">
              <a:solidFill>
                <a:srgbClr val="FFFFFF"/>
              </a:solidFill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41700" y="9907950"/>
            <a:ext cx="6884499" cy="66320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10800250" y="12880225"/>
            <a:ext cx="2823000" cy="640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10374225" y="12957738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1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2805950" y="10342000"/>
            <a:ext cx="2257500" cy="521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0800250" y="10342000"/>
            <a:ext cx="834600" cy="521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10441700" y="9992038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2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12481700" y="9992038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3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12805950" y="11441559"/>
            <a:ext cx="4194600" cy="896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2481700" y="11209188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4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0800250" y="11901378"/>
            <a:ext cx="1828800" cy="6081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0441700" y="11932770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5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026975" y="8258100"/>
            <a:ext cx="893400" cy="3819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1522300" y="8140875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2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13528750" y="8258100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1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6134500" y="8258100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2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20797375" y="8258100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3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24088800" y="8258100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4</a:t>
            </a:r>
            <a:endParaRPr b="1" sz="2500">
              <a:solidFill>
                <a:srgbClr val="FFFFFF"/>
              </a:solidFill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26677375" y="8258100"/>
            <a:ext cx="532500" cy="532500"/>
          </a:xfrm>
          <a:prstGeom prst="ellipse">
            <a:avLst/>
          </a:prstGeom>
          <a:solidFill>
            <a:srgbClr val="FF0000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500">
                <a:solidFill>
                  <a:srgbClr val="FFFFFF"/>
                </a:solidFill>
              </a:rPr>
              <a:t>5</a:t>
            </a:r>
            <a:endParaRPr b="1" sz="2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9" name="Google Shape;119;p15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{FFA1C6EB-F065-4D5E-B94E-CE183D3AD7D7}</a:tableStyleId>
              </a:tblPr>
              <a:tblGrid>
                <a:gridCol w="32400000"/>
              </a:tblGrid>
              <a:tr h="1199875">
                <a:tc>
                  <a:txBody>
                    <a:bodyPr/>
                    <a:lstStyle/>
                    <a:p>
                      <a:pPr indent="0" lvl="0" marL="472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유물 소환 확률</a:t>
                      </a: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 - </a:t>
                      </a: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ArtifactSummonLevel</a:t>
                      </a: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.xlsx </a:t>
                      </a:r>
                      <a:endParaRPr sz="2887">
                        <a:latin typeface="Asta Sans ExtraBold"/>
                        <a:ea typeface="Asta Sans ExtraBold"/>
                        <a:cs typeface="Asta Sans ExtraBold"/>
                        <a:sym typeface="Asta Sans ExtraBold"/>
                      </a:endParaRPr>
                    </a:p>
                  </a:txBody>
                  <a:tcPr marT="239950" marB="239950" marR="242950" marL="242950" anchor="ctr">
                    <a:lnL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120" name="Google Shape;12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79606" y="211261"/>
            <a:ext cx="3022640" cy="7773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5"/>
          <p:cNvGraphicFramePr/>
          <p:nvPr/>
        </p:nvGraphicFramePr>
        <p:xfrm>
          <a:off x="10374225" y="225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{D411CB53-C722-4492-8B28-41F5C46166DB}</a:tableStyleId>
              </a:tblPr>
              <a:tblGrid>
                <a:gridCol w="1232100"/>
                <a:gridCol w="3285575"/>
                <a:gridCol w="3285575"/>
                <a:gridCol w="3285575"/>
                <a:gridCol w="3285575"/>
                <a:gridCol w="328557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Lv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COMMON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RARE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EPIC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LEGENDARY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RequireLevelUpAmount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1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1.00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2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0.99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0.01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10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3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0.98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0.02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15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4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0.96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0.04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20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0.94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0.06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25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6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0.92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0.08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30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7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0.90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0.10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35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8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0.84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0.15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0.01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40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9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0.79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0.20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0.01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45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10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0.73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0.25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0.01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0.00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>
                          <a:latin typeface="Asta Sans Medium"/>
                          <a:ea typeface="Asta Sans Medium"/>
                          <a:cs typeface="Asta Sans Medium"/>
                          <a:sym typeface="Asta Sans Medium"/>
                        </a:rPr>
                        <a:t>50</a:t>
                      </a:r>
                      <a:endParaRPr sz="2000">
                        <a:latin typeface="Asta Sans Medium"/>
                        <a:ea typeface="Asta Sans Medium"/>
                        <a:cs typeface="Asta Sans Medium"/>
                        <a:sym typeface="Asta Sans Medium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2" name="Google Shape;12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3984" y="2258793"/>
            <a:ext cx="7705708" cy="1428123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/>
          <p:nvPr/>
        </p:nvSpPr>
        <p:spPr>
          <a:xfrm>
            <a:off x="2436275" y="12465925"/>
            <a:ext cx="5615100" cy="1228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24748625" y="8599800"/>
            <a:ext cx="3285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>
                <a:solidFill>
                  <a:srgbClr val="FF0000"/>
                </a:solidFill>
                <a:latin typeface="Asta Sans ExtraBold"/>
                <a:ea typeface="Asta Sans ExtraBold"/>
                <a:cs typeface="Asta Sans ExtraBold"/>
                <a:sym typeface="Asta Sans ExtraBold"/>
              </a:rPr>
              <a:t>경험치</a:t>
            </a:r>
            <a:endParaRPr sz="4000">
              <a:solidFill>
                <a:srgbClr val="FF0000"/>
              </a:solidFill>
              <a:latin typeface="Asta Sans ExtraBold"/>
              <a:ea typeface="Asta Sans ExtraBold"/>
              <a:cs typeface="Asta Sans ExtraBold"/>
              <a:sym typeface="Asta Sans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975" y="2258775"/>
            <a:ext cx="7705725" cy="142812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{FFA1C6EB-F065-4D5E-B94E-CE183D3AD7D7}</a:tableStyleId>
              </a:tblPr>
              <a:tblGrid>
                <a:gridCol w="32400000"/>
              </a:tblGrid>
              <a:tr h="1199875">
                <a:tc>
                  <a:txBody>
                    <a:bodyPr/>
                    <a:lstStyle/>
                    <a:p>
                      <a:pPr indent="0" lvl="0" marL="472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아군 요새</a:t>
                      </a: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 - </a:t>
                      </a: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BaseCampUpgradeHp</a:t>
                      </a:r>
                      <a:r>
                        <a:rPr lang="ko-KR" sz="4199">
                          <a:latin typeface="Asta Sans ExtraBold"/>
                          <a:ea typeface="Asta Sans ExtraBold"/>
                          <a:cs typeface="Asta Sans ExtraBold"/>
                          <a:sym typeface="Asta Sans ExtraBold"/>
                        </a:rPr>
                        <a:t>.xlsx </a:t>
                      </a:r>
                      <a:endParaRPr sz="2887">
                        <a:latin typeface="Asta Sans ExtraBold"/>
                        <a:ea typeface="Asta Sans ExtraBold"/>
                        <a:cs typeface="Asta Sans ExtraBold"/>
                        <a:sym typeface="Asta Sans ExtraBold"/>
                      </a:endParaRPr>
                    </a:p>
                  </a:txBody>
                  <a:tcPr marT="239950" marB="239950" marR="242950" marL="242950" anchor="ctr">
                    <a:lnL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2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pic>
        <p:nvPicPr>
          <p:cNvPr id="131" name="Google Shape;13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9606" y="211261"/>
            <a:ext cx="3022640" cy="7773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10374225" y="225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{D411CB53-C722-4492-8B28-41F5C46166DB}</a:tableStyleId>
              </a:tblPr>
              <a:tblGrid>
                <a:gridCol w="840950"/>
                <a:gridCol w="2803175"/>
                <a:gridCol w="2803175"/>
                <a:gridCol w="2803175"/>
                <a:gridCol w="2803175"/>
                <a:gridCol w="2803175"/>
                <a:gridCol w="2803175"/>
              </a:tblGrid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Lv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Stage1_Hp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Stage2_Hp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Stage3_Hp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Stage4_Hp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Stage5_Hp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Stage6_Hp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320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1,000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162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640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1,500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72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216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960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2,000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90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270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1,280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2,500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324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1,600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3,000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126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378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1,920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3,500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7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144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432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2,240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4,000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162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486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2,560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4,600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9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60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180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540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2,880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5,290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40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66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198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594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3,200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2000"/>
                        <a:t>6,084</a:t>
                      </a:r>
                      <a:endParaRPr sz="2000"/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3" name="Google Shape;133;p16"/>
          <p:cNvPicPr preferRelativeResize="0"/>
          <p:nvPr/>
        </p:nvPicPr>
        <p:blipFill rotWithShape="1">
          <a:blip r:embed="rId5">
            <a:alphaModFix/>
          </a:blip>
          <a:srcRect b="23327" l="0" r="0" t="28225"/>
          <a:stretch/>
        </p:blipFill>
        <p:spPr>
          <a:xfrm>
            <a:off x="10374225" y="9620925"/>
            <a:ext cx="7705725" cy="6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10577475" y="10449825"/>
            <a:ext cx="1068300" cy="836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1627562" y="11006958"/>
            <a:ext cx="7214400" cy="1303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317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843062" y="2653559"/>
            <a:ext cx="55131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ArtifactUpgradeCost.xlsx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6082" y="5013241"/>
            <a:ext cx="3275457" cy="762606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43062" y="3469882"/>
            <a:ext cx="6556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아티팩트 레벨별 필요 카드수량</a:t>
            </a:r>
            <a:endParaRPr sz="3705"/>
          </a:p>
        </p:txBody>
      </p:sp>
      <p:sp>
        <p:nvSpPr>
          <p:cNvPr id="144" name="Google Shape;144;p17"/>
          <p:cNvSpPr txBox="1"/>
          <p:nvPr/>
        </p:nvSpPr>
        <p:spPr>
          <a:xfrm>
            <a:off x="13786532" y="2653559"/>
            <a:ext cx="55941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BaseCampUpgradeHp.xlsx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3786532" y="3469882"/>
            <a:ext cx="96495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업그레이드 탭의 업그레이드 레벨별 체력 수치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대륙 1~6까지 / 6이후(행성 이동)이후 1~6반복</a:t>
            </a:r>
            <a:endParaRPr sz="3705"/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20784" y="7787940"/>
            <a:ext cx="11491693" cy="882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797894" y="7755102"/>
            <a:ext cx="6720210" cy="885845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/>
          <p:nvPr/>
        </p:nvSpPr>
        <p:spPr>
          <a:xfrm>
            <a:off x="12926938" y="15118367"/>
            <a:ext cx="3025200" cy="1191900"/>
          </a:xfrm>
          <a:prstGeom prst="rect">
            <a:avLst/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843062" y="2653559"/>
            <a:ext cx="5974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BaseCampUpgradePrice.xlsx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843062" y="3469882"/>
            <a:ext cx="98541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업그레이드 탭의 업그레이드 레벨별 골드 필요량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대륙 1~6까지 / 6이후(행성 이동)이후 1~6반복</a:t>
            </a:r>
            <a:endParaRPr sz="3705"/>
          </a:p>
        </p:txBody>
      </p:sp>
      <p:grpSp>
        <p:nvGrpSpPr>
          <p:cNvPr id="156" name="Google Shape;156;p18"/>
          <p:cNvGrpSpPr/>
          <p:nvPr/>
        </p:nvGrpSpPr>
        <p:grpSpPr>
          <a:xfrm>
            <a:off x="545523" y="5632777"/>
            <a:ext cx="16438682" cy="7885860"/>
            <a:chOff x="317241" y="2954693"/>
            <a:chExt cx="6948760" cy="3375074"/>
          </a:xfrm>
        </p:grpSpPr>
        <p:pic>
          <p:nvPicPr>
            <p:cNvPr id="157" name="Google Shape;15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7241" y="2954694"/>
              <a:ext cx="2560400" cy="33750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18"/>
            <p:cNvSpPr/>
            <p:nvPr/>
          </p:nvSpPr>
          <p:spPr>
            <a:xfrm>
              <a:off x="1927123" y="5760098"/>
              <a:ext cx="950518" cy="454090"/>
            </a:xfrm>
            <a:prstGeom prst="rect">
              <a:avLst/>
            </a:prstGeom>
            <a:noFill/>
            <a:ln cap="flat" cmpd="sng" w="1008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20950" lIns="241950" spcFirstLastPara="1" rIns="241950" wrap="square" tIns="12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763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159" name="Google Shape;159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60683" y="2954693"/>
              <a:ext cx="4305318" cy="333118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18"/>
          <p:cNvSpPr txBox="1"/>
          <p:nvPr/>
        </p:nvSpPr>
        <p:spPr>
          <a:xfrm>
            <a:off x="20944285" y="2653559"/>
            <a:ext cx="5953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DailyQuest.xlsx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Enums\DailyQuestType.xlsx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20944285" y="4093480"/>
            <a:ext cx="7749600" cy="26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일일 미션 항목과 보상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Mission : 미션 항목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 : 미션 완료 카운팅 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RewardValue : 마석 보상량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Is_Ad : 보상 완료 시 광고 시청 여부 </a:t>
            </a:r>
            <a:endParaRPr sz="3705"/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08681" y="6987465"/>
            <a:ext cx="10651486" cy="707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843062" y="2653559"/>
            <a:ext cx="5210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EnemyBaseCampHp.xlsx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843062" y="3469882"/>
            <a:ext cx="6186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각 스테이지별 적군 기지 HP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2" y="5013241"/>
            <a:ext cx="6450900" cy="962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34421" y="5394882"/>
            <a:ext cx="4450622" cy="1122656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18790339" y="2653559"/>
            <a:ext cx="40065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GetStageGold.xlsx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18790339" y="3469882"/>
            <a:ext cx="11059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모든행성의 대륙 1~6의 각 유닛별 처치 시 획득 골드량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43062" y="2653559"/>
            <a:ext cx="2226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Item.xlsx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43062" y="3469882"/>
            <a:ext cx="7400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내 아이템 인덱스와 타입 정의</a:t>
            </a:r>
            <a:endParaRPr sz="3705"/>
          </a:p>
        </p:txBody>
      </p:sp>
      <p:sp>
        <p:nvSpPr>
          <p:cNvPr id="181" name="Google Shape;181;p20"/>
          <p:cNvSpPr txBox="1"/>
          <p:nvPr/>
        </p:nvSpPr>
        <p:spPr>
          <a:xfrm>
            <a:off x="18790339" y="2653559"/>
            <a:ext cx="3540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PlanetLevel.xlsx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8790339" y="3469882"/>
            <a:ext cx="98541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행성(타임라인)별 난이도 시트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행성이 높아짐에 따라 난이도 상승을 보여줘야함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2" y="5754459"/>
            <a:ext cx="10401452" cy="9201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33979" y="4859073"/>
            <a:ext cx="7726078" cy="12526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843062" y="1352549"/>
            <a:ext cx="5537100" cy="17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Skill.xlsx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Enums\SkillStatType. xlsx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843062" y="2587472"/>
            <a:ext cx="11049600" cy="26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Value : 스킬 레벨별 계수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Skill_U_StatType : 스킬 초월 시 추가 되는 능력치 타입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U1_Value : 1초월 시 레벨별 능력치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U2_Value : 2초월 시 레벨별 능력치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U3_Value : 3초월 시 레벨별 능력치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8790339" y="1352549"/>
            <a:ext cx="2982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SkillCost.xlsx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18790339" y="2168871"/>
            <a:ext cx="64377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스킬 레벨별 필요 스킬필요량 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064" y="5518367"/>
            <a:ext cx="10747385" cy="12187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23969" y="4674630"/>
            <a:ext cx="3325465" cy="12601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843062" y="1352549"/>
            <a:ext cx="55665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SommonGemProduce.xlsx</a:t>
            </a:r>
            <a:endParaRPr sz="3705"/>
          </a:p>
        </p:txBody>
      </p:sp>
      <p:sp>
        <p:nvSpPr>
          <p:cNvPr id="202" name="Google Shape;202;p22"/>
          <p:cNvSpPr txBox="1"/>
          <p:nvPr/>
        </p:nvSpPr>
        <p:spPr>
          <a:xfrm>
            <a:off x="843062" y="2587472"/>
            <a:ext cx="11106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업그레이드 탭의 소환석(식량) 업그레이드 수치 및 가격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18790339" y="1352549"/>
            <a:ext cx="4056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UnitOpenCost.xlsx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18790339" y="2168871"/>
            <a:ext cx="10058700" cy="21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Unit2_OpenCost : 스테이지별 유닛2번 해금 골드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Unit3_OpenCost : 스테이지별 유닛3번 해금 골드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EvolutionCost : 대륙 이동 비용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52082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None/>
            </a:pPr>
            <a:r>
              <a:t/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3" y="5227722"/>
            <a:ext cx="6720210" cy="885845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/>
          <p:nvPr/>
        </p:nvSpPr>
        <p:spPr>
          <a:xfrm>
            <a:off x="206978" y="11350171"/>
            <a:ext cx="6546000" cy="1191900"/>
          </a:xfrm>
          <a:prstGeom prst="rect">
            <a:avLst/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07" name="Google Shape;2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2149" y="5227722"/>
            <a:ext cx="6400168" cy="8889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35580" y="4133845"/>
            <a:ext cx="6720210" cy="885845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/>
          <p:nvPr/>
        </p:nvSpPr>
        <p:spPr>
          <a:xfrm>
            <a:off x="18181662" y="8179591"/>
            <a:ext cx="4129200" cy="888900"/>
          </a:xfrm>
          <a:prstGeom prst="rect">
            <a:avLst/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687656" y="3949213"/>
            <a:ext cx="9386601" cy="7572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115753" y="10418661"/>
            <a:ext cx="5459215" cy="73963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/>
          <p:nvPr/>
        </p:nvSpPr>
        <p:spPr>
          <a:xfrm>
            <a:off x="23192450" y="16326530"/>
            <a:ext cx="3376500" cy="1488600"/>
          </a:xfrm>
          <a:prstGeom prst="rect">
            <a:avLst/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843062" y="1352549"/>
            <a:ext cx="56454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UnitSommonGemCost.xlsx</a:t>
            </a:r>
            <a:endParaRPr sz="3705"/>
          </a:p>
        </p:txBody>
      </p:sp>
      <p:sp>
        <p:nvSpPr>
          <p:cNvPr id="219" name="Google Shape;219;p23"/>
          <p:cNvSpPr txBox="1"/>
          <p:nvPr/>
        </p:nvSpPr>
        <p:spPr>
          <a:xfrm>
            <a:off x="843062" y="2411220"/>
            <a:ext cx="10503000" cy="17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시 각 행성(타임라인별) 유닛들의 소환 비용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 : 행성 인덱스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Stage1_Unit1_Cost : 대륙1의 첫번째 유닛 소환비용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604" y="6864097"/>
            <a:ext cx="24310204" cy="10403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22608" y="1135412"/>
            <a:ext cx="11551611" cy="43006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/>
        </p:nvSpPr>
        <p:spPr>
          <a:xfrm>
            <a:off x="17154083" y="4291816"/>
            <a:ext cx="8151600" cy="888900"/>
          </a:xfrm>
          <a:prstGeom prst="rect">
            <a:avLst/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281021" y="293877"/>
            <a:ext cx="22713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11018992" y="1576008"/>
            <a:ext cx="44682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SetTribeByStage.xlsx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11018992" y="2392331"/>
            <a:ext cx="6292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스테이지별 종족 인덱스 할당</a:t>
            </a:r>
            <a:endParaRPr sz="3705"/>
          </a:p>
        </p:txBody>
      </p:sp>
      <p:sp>
        <p:nvSpPr>
          <p:cNvPr id="230" name="Google Shape;230;p24"/>
          <p:cNvSpPr txBox="1"/>
          <p:nvPr/>
        </p:nvSpPr>
        <p:spPr>
          <a:xfrm>
            <a:off x="871154" y="1212491"/>
            <a:ext cx="2298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871154" y="2028814"/>
            <a:ext cx="6946200" cy="26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내 종족 할당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TribeIndex : 종족별 종족 인덱스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SetInStage : 배치되는 대륙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TribeUnit1_Index : 유닛 인덱스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52082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None/>
            </a:pPr>
            <a:r>
              <a:t/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19574019" y="1244651"/>
            <a:ext cx="3867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TribeUnitStat.xlsx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19574019" y="2060974"/>
            <a:ext cx="6388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유닛별 능력치 할당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Char char="-"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TribeUnitIndex : 유닛 인덱스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51875" y="3951018"/>
            <a:ext cx="4278614" cy="1315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154" y="6416273"/>
            <a:ext cx="8572085" cy="10689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18420" y="6011575"/>
            <a:ext cx="12176698" cy="9601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 txBox="1"/>
          <p:nvPr/>
        </p:nvSpPr>
        <p:spPr>
          <a:xfrm>
            <a:off x="327558" y="229942"/>
            <a:ext cx="52929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76"/>
              <a:buFont typeface="Malgun Gothic"/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전투 능력치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848273" y="1253391"/>
            <a:ext cx="14269800" cy="4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능력치 설명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 : 타격 시 적에게 주는 피해</a:t>
            </a:r>
            <a:endParaRPr b="1" sz="3175">
              <a:solidFill>
                <a:srgbClr val="22222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체력 : 생명력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공격 속도 : </a:t>
            </a:r>
            <a:r>
              <a:rPr b="1" lang="ko-KR" sz="3175">
                <a:solidFill>
                  <a:srgbClr val="222225"/>
                </a:solidFill>
                <a:latin typeface="Malgun Gothic"/>
                <a:ea typeface="Malgun Gothic"/>
                <a:cs typeface="Malgun Gothic"/>
                <a:sym typeface="Malgun Gothic"/>
              </a:rPr>
              <a:t>n초 마다 공격 (예시 : 0.7 = 0.7초마다 공격)</a:t>
            </a:r>
            <a:endParaRPr sz="3705"/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공속 &amp; 스파인 배속 : 1/공속 </a:t>
            </a:r>
            <a:r>
              <a:rPr b="1" lang="ko-KR" sz="3175">
                <a:solidFill>
                  <a:srgbClr val="222225"/>
                </a:solidFill>
                <a:latin typeface="Malgun Gothic"/>
                <a:ea typeface="Malgun Gothic"/>
                <a:cs typeface="Malgun Gothic"/>
                <a:sym typeface="Malgun Gothic"/>
              </a:rPr>
              <a:t>= 스파인 배속</a:t>
            </a:r>
            <a:endParaRPr b="1" sz="3175">
              <a:solidFill>
                <a:srgbClr val="22222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사거리 : </a:t>
            </a:r>
            <a:r>
              <a:rPr b="1" lang="ko-KR" sz="3175">
                <a:solidFill>
                  <a:srgbClr val="222225"/>
                </a:solidFill>
                <a:latin typeface="Malgun Gothic"/>
                <a:ea typeface="Malgun Gothic"/>
                <a:cs typeface="Malgun Gothic"/>
                <a:sym typeface="Malgun Gothic"/>
              </a:rPr>
              <a:t>맵의 총 거리를 1로 봤을때 거리 비례 (아래 이미지)</a:t>
            </a:r>
            <a:endParaRPr sz="3705"/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범위 : 스플래쉬 여부 </a:t>
            </a:r>
            <a:r>
              <a:rPr b="1" lang="ko-KR" sz="3175">
                <a:solidFill>
                  <a:srgbClr val="222225"/>
                </a:solidFill>
                <a:latin typeface="Malgun Gothic"/>
                <a:ea typeface="Malgun Gothic"/>
                <a:cs typeface="Malgun Gothic"/>
                <a:sym typeface="Malgun Gothic"/>
              </a:rPr>
              <a:t>(FALSE – 단일, TRUE – 스플래쉬)</a:t>
            </a:r>
            <a:endParaRPr sz="3705"/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스플래쉬의 범위는 좁은범위의 범위공격으로 제작 (테스트하며 거리 수정)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67956" y="5035861"/>
            <a:ext cx="6675932" cy="3025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73" y="11038113"/>
            <a:ext cx="15363275" cy="609140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/>
          <p:nvPr/>
        </p:nvSpPr>
        <p:spPr>
          <a:xfrm>
            <a:off x="8782715" y="14811430"/>
            <a:ext cx="503400" cy="4971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6" name="Google Shape;246;p25"/>
          <p:cNvCxnSpPr>
            <a:stCxn id="245" idx="0"/>
          </p:cNvCxnSpPr>
          <p:nvPr/>
        </p:nvCxnSpPr>
        <p:spPr>
          <a:xfrm rot="-5400000">
            <a:off x="6683315" y="12208330"/>
            <a:ext cx="4954200" cy="252000"/>
          </a:xfrm>
          <a:prstGeom prst="bentConnector3">
            <a:avLst>
              <a:gd fmla="val 50000" name="adj1"/>
            </a:avLst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7" name="Google Shape;247;p25"/>
          <p:cNvSpPr txBox="1"/>
          <p:nvPr/>
        </p:nvSpPr>
        <p:spPr>
          <a:xfrm>
            <a:off x="7740172" y="7479816"/>
            <a:ext cx="3615300" cy="3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해당 위치에서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적 타워를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공격 가능할때</a:t>
            </a:r>
            <a:endParaRPr b="1" sz="3175">
              <a:solidFill>
                <a:srgbClr val="22222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사거리 0.5</a:t>
            </a:r>
            <a:endParaRPr sz="3705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Malgun Gothic"/>
                <a:ea typeface="Malgun Gothic"/>
                <a:cs typeface="Malgun Gothic"/>
                <a:sym typeface="Malgun Gothic"/>
              </a:rPr>
              <a:t>(절반 위치)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11551177" y="14811430"/>
            <a:ext cx="503400" cy="4971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49" name="Google Shape;249;p25"/>
          <p:cNvCxnSpPr>
            <a:stCxn id="248" idx="0"/>
          </p:cNvCxnSpPr>
          <p:nvPr/>
        </p:nvCxnSpPr>
        <p:spPr>
          <a:xfrm rot="-5400000">
            <a:off x="9451777" y="12208330"/>
            <a:ext cx="4954200" cy="252000"/>
          </a:xfrm>
          <a:prstGeom prst="bentConnector3">
            <a:avLst>
              <a:gd fmla="val 50000" name="adj1"/>
            </a:avLst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0" name="Google Shape;250;p25"/>
          <p:cNvSpPr txBox="1"/>
          <p:nvPr/>
        </p:nvSpPr>
        <p:spPr>
          <a:xfrm>
            <a:off x="12335202" y="7479816"/>
            <a:ext cx="3615300" cy="3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해당 위치에서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적 타워를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공격 가능할때</a:t>
            </a:r>
            <a:endParaRPr b="1" sz="3175">
              <a:solidFill>
                <a:srgbClr val="22222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사거리 0.33</a:t>
            </a:r>
            <a:endParaRPr sz="3705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(1/3위치)</a:t>
            </a:r>
            <a:endParaRPr sz="3705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3838613" y="7359194"/>
            <a:ext cx="3615300" cy="3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해당 위치에서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적 타워를</a:t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공격 가능할때</a:t>
            </a:r>
            <a:endParaRPr b="1" sz="3175">
              <a:solidFill>
                <a:srgbClr val="22222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사거리 0.66</a:t>
            </a:r>
            <a:endParaRPr sz="3705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rgbClr val="222225"/>
                </a:solidFill>
                <a:latin typeface="Arial"/>
                <a:ea typeface="Arial"/>
                <a:cs typeface="Arial"/>
                <a:sym typeface="Arial"/>
              </a:rPr>
              <a:t>(1/3위치)</a:t>
            </a:r>
            <a:endParaRPr sz="3705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75">
              <a:solidFill>
                <a:srgbClr val="2222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62576" y="14811430"/>
            <a:ext cx="503400" cy="4971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53" name="Google Shape;253;p25"/>
          <p:cNvCxnSpPr>
            <a:stCxn id="252" idx="0"/>
          </p:cNvCxnSpPr>
          <p:nvPr/>
        </p:nvCxnSpPr>
        <p:spPr>
          <a:xfrm rot="-5400000">
            <a:off x="3663176" y="12208330"/>
            <a:ext cx="4954200" cy="252000"/>
          </a:xfrm>
          <a:prstGeom prst="bentConnector3">
            <a:avLst>
              <a:gd fmla="val 50000" name="adj1"/>
            </a:avLst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/>
        </p:nvSpPr>
        <p:spPr>
          <a:xfrm>
            <a:off x="281021" y="293877"/>
            <a:ext cx="3553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 _ 추가</a:t>
            </a:r>
            <a:endParaRPr sz="3705"/>
          </a:p>
        </p:txBody>
      </p:sp>
      <p:sp>
        <p:nvSpPr>
          <p:cNvPr id="259" name="Google Shape;259;p26"/>
          <p:cNvSpPr txBox="1"/>
          <p:nvPr/>
        </p:nvSpPr>
        <p:spPr>
          <a:xfrm>
            <a:off x="11804908" y="639593"/>
            <a:ext cx="65229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SlimeRushDungeonUserUnitBase.xlsx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11804908" y="1455916"/>
            <a:ext cx="14868000" cy="1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슬라임 던전아군의 베이스 능력치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배치되는 종족이 가지고 있는 능력치말고, 베이스 능력치를 할당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 능력치에 각 콘텐츠(유물, 스킬 등)에서 획득한 능력치를 계산하여 최종 능력치 환산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공격 범위는 FALSE (단일 공격)</a:t>
            </a:r>
            <a:endParaRPr sz="3705"/>
          </a:p>
        </p:txBody>
      </p:sp>
      <p:sp>
        <p:nvSpPr>
          <p:cNvPr id="261" name="Google Shape;261;p26"/>
          <p:cNvSpPr txBox="1"/>
          <p:nvPr/>
        </p:nvSpPr>
        <p:spPr>
          <a:xfrm>
            <a:off x="871154" y="1212491"/>
            <a:ext cx="4371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SlimeRushDungeon.xlsx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871154" y="2028814"/>
            <a:ext cx="7012800" cy="59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슬라임러쉬 던전 시트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10인덱스 마다 컨셉 변경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~Idx 10 챕터1, 11~20 챕터2 …</a:t>
            </a:r>
            <a:endParaRPr sz="3705"/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TribeIdx : 배치되는 아군 종족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Enemy1_Count : 적군1번 등장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Enemy2_Count : 적군2번 등장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Enemy3_Count : 적군3번 등장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RewardCount : 클리어 시 마석 획득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적군의 등장은 일정 시간마다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Enemy1부터 모두 출현 후 Enemy2, 3까지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순차적으로 등장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(등장 주기는 테스트 하며 수정)</a:t>
            </a:r>
            <a:endParaRPr sz="3705"/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12097217" y="8292438"/>
            <a:ext cx="6876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SlimeRushDungeonEnemyUnitBase.xlsx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26"/>
          <p:cNvSpPr txBox="1"/>
          <p:nvPr/>
        </p:nvSpPr>
        <p:spPr>
          <a:xfrm>
            <a:off x="12097217" y="9108761"/>
            <a:ext cx="12763800" cy="4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슬라임 던전 적군의 베이스 능력치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던전의 챕터마다 해당되는 난이도의 값을 곱해 계산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공격력, 체력에만 난이도값을 곱해주면 됨.</a:t>
            </a:r>
            <a:endParaRPr sz="3705"/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공격속도, 사거리, 스플래쉬는 기본값 고정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예시) SlimeRushIdx101 -&gt; chapter10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1유닛 - atk : 4.32(1 x 4.32), HP : 19.44(4.5 x 4.32), AtkSpeed : 1, Range : 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 유닛 - atk : 9.5(2.5 x 4.32), HP : 41.04 (9.5 x 4.32), AtkSpeed : 1, Range : 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 유닛 - atk : 21.6(5 x 4.32), HP : 86.4(20 x 4.32), AtkSpeed : 1, Range : 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5" name="Google Shape;2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033" y="7892575"/>
            <a:ext cx="8217153" cy="4933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40065" y="3490630"/>
            <a:ext cx="8217155" cy="2076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05552" y="13390168"/>
            <a:ext cx="8003157" cy="206043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 txBox="1"/>
          <p:nvPr/>
        </p:nvSpPr>
        <p:spPr>
          <a:xfrm>
            <a:off x="26482512" y="7565407"/>
            <a:ext cx="3540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PlanetLevel.xlsx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69" name="Google Shape;269;p26"/>
          <p:cNvGrpSpPr/>
          <p:nvPr/>
        </p:nvGrpSpPr>
        <p:grpSpPr>
          <a:xfrm>
            <a:off x="25023406" y="1455709"/>
            <a:ext cx="10803144" cy="15072158"/>
            <a:chOff x="9161987" y="1975404"/>
            <a:chExt cx="2943636" cy="4772691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161987" y="1975404"/>
              <a:ext cx="2943636" cy="47726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/>
            <p:nvPr/>
          </p:nvSpPr>
          <p:spPr>
            <a:xfrm>
              <a:off x="9167869" y="4250715"/>
              <a:ext cx="2855886" cy="288447"/>
            </a:xfrm>
            <a:prstGeom prst="rect">
              <a:avLst/>
            </a:prstGeom>
            <a:noFill/>
            <a:ln cap="flat" cmpd="sng" w="336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20950" lIns="241950" spcFirstLastPara="1" rIns="241950" wrap="square" tIns="12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763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/>
        </p:nvSpPr>
        <p:spPr>
          <a:xfrm>
            <a:off x="281021" y="293877"/>
            <a:ext cx="3553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 _ 추가</a:t>
            </a:r>
            <a:endParaRPr sz="3705"/>
          </a:p>
        </p:txBody>
      </p:sp>
      <p:sp>
        <p:nvSpPr>
          <p:cNvPr id="277" name="Google Shape;277;p27"/>
          <p:cNvSpPr txBox="1"/>
          <p:nvPr/>
        </p:nvSpPr>
        <p:spPr>
          <a:xfrm>
            <a:off x="11804908" y="639593"/>
            <a:ext cx="66975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DevilAttackDungeonUserUnitBase.xlsx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27"/>
          <p:cNvSpPr txBox="1"/>
          <p:nvPr/>
        </p:nvSpPr>
        <p:spPr>
          <a:xfrm>
            <a:off x="11804908" y="1455916"/>
            <a:ext cx="14868000" cy="1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마계침공 던전아군의 베이스 능력치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배치되는 종족이 가지고 있는 능력치말고, 베이스 능력치를 할당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 능력치에 각 콘텐츠(유물, 스킬 등)에서 획득한 능력치를 계산하여 최종 능력치 환산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공격 범위는 FALSE (단일 공격)</a:t>
            </a:r>
            <a:endParaRPr sz="3705"/>
          </a:p>
        </p:txBody>
      </p:sp>
      <p:sp>
        <p:nvSpPr>
          <p:cNvPr id="279" name="Google Shape;279;p27"/>
          <p:cNvSpPr txBox="1"/>
          <p:nvPr/>
        </p:nvSpPr>
        <p:spPr>
          <a:xfrm>
            <a:off x="871154" y="1212491"/>
            <a:ext cx="4546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DevilAttackDungeon.xlsx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871154" y="2028814"/>
            <a:ext cx="7353600" cy="59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마계침공 던전 시트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10인덱스 마다 컨셉 변경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~Idx 10 챕터1, 11~20 챕터2 …</a:t>
            </a:r>
            <a:endParaRPr sz="3705"/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TribeIdx : 배치되는 아군 종족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Enemy1_Count : 적군1번 등장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Enemy2_Count : 적군2번 등장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Enemy3_Count : 적군3번 등장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RewardCount : 클리어 시 특성석 획득 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적군의 등장은 일정 시간마다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Enemy1부터 모두 출현 후 Enemy2, 3까지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순차적으로 등장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(등장 주기는 테스트 하며 수정)</a:t>
            </a:r>
            <a:endParaRPr sz="3705"/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12097217" y="8292438"/>
            <a:ext cx="70512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DevilAttackDungeonEnemyUnitBase.xlsx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27"/>
          <p:cNvSpPr txBox="1"/>
          <p:nvPr/>
        </p:nvSpPr>
        <p:spPr>
          <a:xfrm>
            <a:off x="12097217" y="9108761"/>
            <a:ext cx="12895800" cy="4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마계침공던전 적군의 베이스 능력치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던전의 챕터마다 해당되는 난이도의 값을 곱해 계산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공격력, 체력에만 난이도값을 곱해주면 됨.</a:t>
            </a:r>
            <a:endParaRPr sz="3705"/>
          </a:p>
          <a:p>
            <a:pPr indent="-453748" lvl="0" marL="453749" marR="0" rtl="0" algn="l">
              <a:spcBef>
                <a:spcPts val="0"/>
              </a:spcBef>
              <a:spcAft>
                <a:spcPts val="0"/>
              </a:spcAft>
              <a:buClr>
                <a:srgbClr val="222225"/>
              </a:buClr>
              <a:buSzPts val="3176"/>
              <a:buFont typeface="Arial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공격속도, 사거리, 스플래쉬는 기본값 고정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예시) DevilAttackhIdx101 -&gt; chapter10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1유닛 - atk : 8.64(2 x 4.32), HP : 25.92(6 x 4.32), AtkSpeed : 1, Range : 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 유닛 - atk : 8.64 (2 x 4.32), HP : 8.64 (2 x 4.32), AtkSpeed : 1, Range : 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 유닛 - atk : 21.6(5 x 4.32), HP : 129.6(30 x 4.32), AtkSpeed : 1, Range : 0</a:t>
            </a:r>
            <a:endParaRPr sz="3705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27"/>
          <p:cNvSpPr txBox="1"/>
          <p:nvPr/>
        </p:nvSpPr>
        <p:spPr>
          <a:xfrm>
            <a:off x="26482512" y="7565407"/>
            <a:ext cx="3540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PlanetLevel.xlsx</a:t>
            </a:r>
            <a:endParaRPr b="1" sz="3175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84" name="Google Shape;284;p27"/>
          <p:cNvGrpSpPr/>
          <p:nvPr/>
        </p:nvGrpSpPr>
        <p:grpSpPr>
          <a:xfrm>
            <a:off x="25675261" y="8680588"/>
            <a:ext cx="5157545" cy="8258665"/>
            <a:chOff x="9161987" y="1975404"/>
            <a:chExt cx="2943636" cy="4772691"/>
          </a:xfrm>
        </p:grpSpPr>
        <p:pic>
          <p:nvPicPr>
            <p:cNvPr id="285" name="Google Shape;28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161987" y="1975404"/>
              <a:ext cx="2943636" cy="47726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7"/>
            <p:cNvSpPr/>
            <p:nvPr/>
          </p:nvSpPr>
          <p:spPr>
            <a:xfrm>
              <a:off x="9167869" y="4250715"/>
              <a:ext cx="2855886" cy="288447"/>
            </a:xfrm>
            <a:prstGeom prst="rect">
              <a:avLst/>
            </a:prstGeom>
            <a:noFill/>
            <a:ln cap="flat" cmpd="sng" w="336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120950" lIns="241950" spcFirstLastPara="1" rIns="241950" wrap="square" tIns="1209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763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287" name="Google Shape;28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29" y="8809029"/>
            <a:ext cx="6614809" cy="5221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05555" y="3396231"/>
            <a:ext cx="7863498" cy="1936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53788" y="13804614"/>
            <a:ext cx="8781548" cy="2228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/>
        </p:nvSpPr>
        <p:spPr>
          <a:xfrm>
            <a:off x="281021" y="293877"/>
            <a:ext cx="3553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 _ 추가</a:t>
            </a:r>
            <a:endParaRPr sz="3705"/>
          </a:p>
        </p:txBody>
      </p:sp>
      <p:sp>
        <p:nvSpPr>
          <p:cNvPr id="295" name="Google Shape;295;p28"/>
          <p:cNvSpPr txBox="1"/>
          <p:nvPr/>
        </p:nvSpPr>
        <p:spPr>
          <a:xfrm>
            <a:off x="871154" y="1212491"/>
            <a:ext cx="52833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EnemyBaseCampGetGold.xlsx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871154" y="2028814"/>
            <a:ext cx="15741300" cy="3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적군 기지를 때렸을때 획득하는 골드량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1~6대륙 획득량 (월드별 획득량은 반복)</a:t>
            </a:r>
            <a:endParaRPr sz="3705"/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EnemyBaseCampGetGold : 해당 스테이지에서 기지로 획득 가능한 골드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Hp당 획득 골드 : EnemyBaseCampGetGold / EnemyBaseCampHp (EnemyBaseCampHp.Xlsx)</a:t>
            </a:r>
            <a:endParaRPr sz="3705"/>
          </a:p>
          <a:p>
            <a:pPr indent="-285694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None/>
            </a:pPr>
            <a:r>
              <a:t/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적군 기지를 아군 유닛이 가격할때마다 피해를 준 hp에 비례해서 골드 획득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97" name="Google Shape;2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2748" y="7076283"/>
            <a:ext cx="8976252" cy="5125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81102" y="4950987"/>
            <a:ext cx="7801089" cy="72510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22576967" y="12395409"/>
            <a:ext cx="4925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EnemyBaseCampHp.Xlsx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/>
        </p:nvSpPr>
        <p:spPr>
          <a:xfrm>
            <a:off x="281021" y="293877"/>
            <a:ext cx="3553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317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시트 설명 _ 추가</a:t>
            </a:r>
            <a:endParaRPr sz="3705"/>
          </a:p>
        </p:txBody>
      </p:sp>
      <p:sp>
        <p:nvSpPr>
          <p:cNvPr id="305" name="Google Shape;305;p29"/>
          <p:cNvSpPr txBox="1"/>
          <p:nvPr/>
        </p:nvSpPr>
        <p:spPr>
          <a:xfrm>
            <a:off x="871154" y="1212491"/>
            <a:ext cx="3174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StageSpawn.xlsx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6" name="Google Shape;306;p29"/>
          <p:cNvSpPr txBox="1"/>
          <p:nvPr/>
        </p:nvSpPr>
        <p:spPr>
          <a:xfrm>
            <a:off x="871154" y="2028814"/>
            <a:ext cx="65697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Age : 스테이지 1~6 (월드마다 반복)</a:t>
            </a:r>
            <a:endParaRPr sz="3705"/>
          </a:p>
          <a:p>
            <a:pPr indent="-453749" lvl="0" marL="453749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47"/>
              <a:buFont typeface="Malgun Gothic"/>
              <a:buChar char="-"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 : 초 / 유닛index / 마릿수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 웨이브 기준으로 초 카운팅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9864" y="11502068"/>
            <a:ext cx="28345946" cy="41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9"/>
          <p:cNvSpPr/>
          <p:nvPr/>
        </p:nvSpPr>
        <p:spPr>
          <a:xfrm>
            <a:off x="6075000" y="12113514"/>
            <a:ext cx="1806000" cy="600000"/>
          </a:xfrm>
          <a:prstGeom prst="rect">
            <a:avLst/>
          </a:prstGeom>
          <a:noFill/>
          <a:ln cap="flat" cmpd="sng" w="756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4045668" y="10072058"/>
            <a:ext cx="61779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Wave1기준 8초후 1번째 유닛 1마리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0" name="Google Shape;310;p29"/>
          <p:cNvCxnSpPr>
            <a:stCxn id="308" idx="0"/>
            <a:endCxn id="309" idx="2"/>
          </p:cNvCxnSpPr>
          <p:nvPr/>
        </p:nvCxnSpPr>
        <p:spPr>
          <a:xfrm rot="-5400000">
            <a:off x="6361350" y="11340264"/>
            <a:ext cx="1389900" cy="156600"/>
          </a:xfrm>
          <a:prstGeom prst="bentConnector3">
            <a:avLst>
              <a:gd fmla="val 49998" name="adj1"/>
            </a:avLst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1" name="Google Shape;311;p29"/>
          <p:cNvSpPr txBox="1"/>
          <p:nvPr/>
        </p:nvSpPr>
        <p:spPr>
          <a:xfrm>
            <a:off x="15998781" y="10072058"/>
            <a:ext cx="6254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0950" lIns="241950" spcFirstLastPara="1" rIns="241950" wrap="square" tIns="1209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646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Wave8기준 15초후 3번째 유닛 2마리</a:t>
            </a:r>
            <a:endParaRPr b="1" sz="2646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18312567" y="12113514"/>
            <a:ext cx="1806000" cy="600000"/>
          </a:xfrm>
          <a:prstGeom prst="rect">
            <a:avLst/>
          </a:prstGeom>
          <a:noFill/>
          <a:ln cap="flat" cmpd="sng" w="756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20950" lIns="241950" spcFirstLastPara="1" rIns="241950" wrap="square" tIns="1209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763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3" name="Google Shape;313;p29"/>
          <p:cNvCxnSpPr>
            <a:stCxn id="312" idx="0"/>
          </p:cNvCxnSpPr>
          <p:nvPr/>
        </p:nvCxnSpPr>
        <p:spPr>
          <a:xfrm rot="-5400000">
            <a:off x="18596067" y="11337714"/>
            <a:ext cx="1395300" cy="156300"/>
          </a:xfrm>
          <a:prstGeom prst="bentConnector3">
            <a:avLst>
              <a:gd fmla="val 50000" name="adj1"/>
            </a:avLst>
          </a:prstGeom>
          <a:noFill/>
          <a:ln cap="flat" cmpd="sng" w="1008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